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1" r:id="rId5"/>
    <p:sldId id="284" r:id="rId6"/>
    <p:sldId id="305" r:id="rId7"/>
    <p:sldId id="299" r:id="rId8"/>
    <p:sldId id="303" r:id="rId9"/>
    <p:sldId id="309" r:id="rId10"/>
    <p:sldId id="298" r:id="rId11"/>
    <p:sldId id="306" r:id="rId12"/>
    <p:sldId id="280" r:id="rId13"/>
    <p:sldId id="302" r:id="rId14"/>
    <p:sldId id="300" r:id="rId15"/>
    <p:sldId id="307" r:id="rId16"/>
    <p:sldId id="308" r:id="rId17"/>
    <p:sldId id="310" r:id="rId18"/>
    <p:sldId id="311" r:id="rId19"/>
    <p:sldId id="312" r:id="rId20"/>
    <p:sldId id="30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C46BC-DCA5-4EA0-B7B7-59F47FEA04E2}" v="1005" dt="2024-04-20T13:27:29.533"/>
    <p1510:client id="{2D67E34D-AB82-4060-973B-3D46706AEEBF}" v="975" dt="2024-04-20T05:07:57.591"/>
    <p1510:client id="{4EBAE5A3-D0F0-4D0A-8252-40DB2587680E}" v="212" dt="2024-04-19T19:05:44.640"/>
    <p1510:client id="{891A8ADA-B225-406D-A699-6B180F120C95}" v="59" dt="2024-04-19T19:06:38.231"/>
    <p1510:client id="{B38BDBCA-0E08-41D1-B723-BBF2CB7A4ED2}" v="1954" dt="2024-04-19T20:50:52.874"/>
    <p1510:client id="{E805B7BD-58A9-4FFD-B8A2-8AD334D2763A}" v="774" dt="2024-04-20T15:51:55.95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>
                <a:cs typeface="Calibri Light"/>
              </a:rPr>
              <a:t>Optimizing branch prediction technique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963083"/>
          </a:xfrm>
          <a:noFill/>
        </p:spPr>
        <p:txBody>
          <a:bodyPr anchor="b">
            <a:noAutofit/>
          </a:bodyPr>
          <a:lstStyle/>
          <a:p>
            <a:r>
              <a:rPr lang="en-US">
                <a:cs typeface="Calibri Light"/>
              </a:rPr>
              <a:t>agenda</a:t>
            </a:r>
          </a:p>
        </p:txBody>
      </p:sp>
      <p:pic>
        <p:nvPicPr>
          <p:cNvPr id="15" name="Picture Placeholder 14" descr="A group of people sitting around a table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1711302"/>
            <a:ext cx="4837174" cy="4177434"/>
          </a:xfrm>
          <a:noFill/>
        </p:spPr>
        <p:txBody>
          <a:bodyPr anchor="t">
            <a:normAutofit/>
          </a:bodyPr>
          <a:lstStyle/>
          <a:p>
            <a:r>
              <a:rPr lang="en-US">
                <a:cs typeface="Calibri"/>
              </a:rPr>
              <a:t>Why did we choose??</a:t>
            </a:r>
            <a:endParaRPr lang="en-US"/>
          </a:p>
          <a:p>
            <a:r>
              <a:rPr lang="en-US">
                <a:cs typeface="Calibri"/>
              </a:rPr>
              <a:t>EXISTING branch predictions</a:t>
            </a:r>
          </a:p>
          <a:p>
            <a:r>
              <a:rPr lang="en-US">
                <a:cs typeface="Calibri"/>
              </a:rPr>
              <a:t>Optimized technique</a:t>
            </a:r>
          </a:p>
          <a:p>
            <a:r>
              <a:rPr lang="en-US">
                <a:cs typeface="Calibri"/>
              </a:rPr>
              <a:t>Explanation through an example</a:t>
            </a:r>
          </a:p>
          <a:p>
            <a:r>
              <a:rPr lang="en-US">
                <a:cs typeface="Calibri"/>
              </a:rPr>
              <a:t>conclusion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6E21-3882-5533-DA82-F8659D6A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52" y="466344"/>
            <a:ext cx="10738524" cy="743008"/>
          </a:xfrm>
        </p:spPr>
        <p:txBody>
          <a:bodyPr/>
          <a:lstStyle/>
          <a:p>
            <a:r>
              <a:rPr lang="en-US" b="1">
                <a:cs typeface="Calibri Light"/>
              </a:rPr>
              <a:t>WHY DID WE CHOOSE??</a:t>
            </a:r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6B496-FABA-FD11-4E13-5D178FBB7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53" y="1355777"/>
            <a:ext cx="10738523" cy="4254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b="1">
                <a:cs typeface="Calibri"/>
              </a:rPr>
              <a:t>Control Hazards:</a:t>
            </a:r>
            <a:endParaRPr lang="en-US"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Control hazards is also known as control-flow hazards. These are the crucial concept in computer architecture that significantly impact the performance of a processor.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The disruptions in instruction flow caused by branches or jumps are control hazards. And this leads to the Stalls and affect the performance.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To overcome the above we will use Branch Predictions.</a:t>
            </a:r>
          </a:p>
          <a:p>
            <a:pPr marL="0" indent="0">
              <a:buNone/>
            </a:pPr>
            <a:r>
              <a:rPr lang="en-US" b="1">
                <a:cs typeface="Calibri"/>
              </a:rPr>
              <a:t>Branch Prediction: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Predict the outcome of branches before known.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These reduces the stalls and improves the instruction throughput in modern process.</a:t>
            </a:r>
          </a:p>
          <a:p>
            <a:pPr>
              <a:buFont typeface="Arial" panose="05000000000000000000" pitchFamily="2" charset="2"/>
              <a:buChar char="•"/>
            </a:pPr>
            <a:endParaRPr lang="en-US"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 b="1"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 b="1">
              <a:cs typeface="Calibri"/>
            </a:endParaRPr>
          </a:p>
          <a:p>
            <a:pPr marL="0" indent="0">
              <a:buNone/>
            </a:pPr>
            <a:endParaRPr lang="en-US" b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646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A38D-3161-0672-7572-F54D709E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92" y="573667"/>
            <a:ext cx="10824384" cy="690778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Types of branch predictions: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C5415-572E-1F92-70C2-53E486501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94" y="1287889"/>
            <a:ext cx="10824382" cy="447283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sz="1600" b="1">
                <a:cs typeface="Calibri"/>
              </a:rPr>
              <a:t>DYNAMIC BRANCH PREDICTION:</a:t>
            </a:r>
          </a:p>
          <a:p>
            <a:pPr marL="0" indent="0">
              <a:buNone/>
            </a:pPr>
            <a:r>
              <a:rPr lang="en-US" b="1">
                <a:cs typeface="Calibri"/>
              </a:rPr>
              <a:t>1-BIT:</a:t>
            </a:r>
            <a:r>
              <a:rPr lang="en-US">
                <a:cs typeface="Calibri"/>
              </a:rPr>
              <a:t> 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u="sng">
                <a:cs typeface="Calibri"/>
              </a:rPr>
              <a:t>Initialization: </a:t>
            </a:r>
            <a:r>
              <a:rPr lang="en-US">
                <a:cs typeface="Calibri"/>
              </a:rPr>
              <a:t>Start with a single bit predictor (0,1).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u="sng">
                <a:cs typeface="Calibri"/>
              </a:rPr>
              <a:t>Prediction:</a:t>
            </a:r>
            <a:r>
              <a:rPr lang="en-US">
                <a:cs typeface="Calibri"/>
              </a:rPr>
              <a:t> If the predictor is 1, predict will be taken; if it is 0, predict the branch will not be taken.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u="sng">
                <a:cs typeface="Calibri"/>
              </a:rPr>
              <a:t>Update:</a:t>
            </a:r>
            <a:r>
              <a:rPr lang="en-US">
                <a:cs typeface="Calibri"/>
              </a:rPr>
              <a:t> After the branch is resolved(i.e.. The output is known), update the predictor: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If the prediction was correct, leave the predictor unchanged.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If the prediction was incorrect (branch taken but predicted not taken, vice versa) flip the predictor bit</a:t>
            </a:r>
            <a:endParaRPr lang="en-US" sz="1200">
              <a:solidFill>
                <a:srgbClr val="ECECEC"/>
              </a:solidFill>
              <a:cs typeface="Calibri"/>
            </a:endParaRPr>
          </a:p>
          <a:p>
            <a:pPr marL="0" indent="0">
              <a:buNone/>
            </a:pPr>
            <a:endParaRPr lang="en-US" b="1">
              <a:cs typeface="Calibri"/>
            </a:endParaRPr>
          </a:p>
          <a:p>
            <a:pPr marL="0" indent="0">
              <a:buNone/>
            </a:pPr>
            <a:endParaRPr lang="en-US">
              <a:cs typeface="Calibri"/>
            </a:endParaRPr>
          </a:p>
          <a:p>
            <a:pPr marL="0" indent="0">
              <a:buNone/>
            </a:pPr>
            <a:endParaRPr lang="en-US">
              <a:cs typeface="Calibri"/>
            </a:endParaRPr>
          </a:p>
          <a:p>
            <a:pPr marL="0" indent="0">
              <a:buNone/>
            </a:pPr>
            <a:endParaRPr lang="en-US"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470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4D478-30D0-0966-E54A-873193AF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52" y="762000"/>
            <a:ext cx="10707324" cy="52822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cs typeface="Calibri"/>
              </a:rPr>
              <a:t>2-Bit: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u="sng">
                <a:cs typeface="Calibri"/>
              </a:rPr>
              <a:t>Initialization</a:t>
            </a:r>
            <a:r>
              <a:rPr lang="en-US">
                <a:cs typeface="Calibri"/>
              </a:rPr>
              <a:t>: Start with a two-bit saturating counter in a weakly taken state(01).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u="sng">
                <a:cs typeface="Calibri"/>
              </a:rPr>
              <a:t>Prediction:</a:t>
            </a:r>
            <a:r>
              <a:rPr lang="en-US">
                <a:cs typeface="Calibri"/>
              </a:rPr>
              <a:t> Predict taken if the counter is strongly taken(11 or 10); predict not taken if the counter is weakly taken or not taken(00,01).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u="sng">
                <a:cs typeface="Calibri"/>
              </a:rPr>
              <a:t>Update</a:t>
            </a:r>
            <a:r>
              <a:rPr lang="en-US">
                <a:cs typeface="Calibri"/>
              </a:rPr>
              <a:t>: After the branch is resolved: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cs typeface="Calibri"/>
              </a:rPr>
              <a:t>If the prediction was correct and the counter is already at the maximum(11) or minimum(00), leave the counter unchanged.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  If the prediction was correct but the counter is not at the maximum or minimum, increment or decrement the counter depending on whether the branch was taken or not taken.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   If the prediction was incorrect, flip the two least significant bits of the counter (e.g., 11 to 10, or 00 to 01).</a:t>
            </a:r>
            <a:endParaRPr lang="en-US"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0695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332B6-5E5D-0ABF-BE6D-C0B407F7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54" y="484910"/>
            <a:ext cx="10882922" cy="5542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cs typeface="Calibri"/>
              </a:rPr>
              <a:t>CORRELATING BRANCH PREDICTION: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Predicts the outcome of a branch based on the historical behavior of multiple branches.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Assumes that branches tend to exhibit certain patterns based on their relationships with other branches.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u="sng" dirty="0">
                <a:cs typeface="Calibri"/>
              </a:rPr>
              <a:t>Implementation: </a:t>
            </a:r>
            <a:endParaRPr lang="en-US" u="sng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Uses a history table to record the outcomes of multiple recent branches.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Uses the recorded outcomes to predict the behavior of a particular branch.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u="sng" dirty="0">
                <a:cs typeface="Calibri"/>
              </a:rPr>
              <a:t>Prediction process:</a:t>
            </a:r>
            <a:endParaRPr lang="en-US" u="sng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The history table stores the outcomes of recent branches as a pattern.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When a branch is encountered, the history table is accessed to determine the likely outcome based on the pattern.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Used in processors with more sophisticated branch prediction mechanisms. Helps improve prediction accuracy for branches with complex relationships.</a:t>
            </a:r>
            <a:endParaRPr lang="en-US" dirty="0"/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978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070B2-705B-8B94-6358-E8BAE6BC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59" y="568818"/>
            <a:ext cx="10802917" cy="51919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cs typeface="Calibri"/>
              </a:rPr>
              <a:t> STATIC BRANCH PREDICTION:</a:t>
            </a:r>
            <a:endParaRPr lang="en-US" dirty="0"/>
          </a:p>
          <a:p>
            <a:pPr>
              <a:buFont typeface="Arial" panose="05000000000000000000" pitchFamily="2" charset="2"/>
              <a:buChar char="•"/>
            </a:pPr>
            <a:r>
              <a:rPr lang="en-US" dirty="0">
                <a:cs typeface="Calibri"/>
              </a:rPr>
              <a:t>Predicts branch outcomes based on fixed rules or heuristics.</a:t>
            </a:r>
            <a:endParaRPr lang="en-US" dirty="0">
              <a:ea typeface="Calibri"/>
              <a:cs typeface="Calibri"/>
            </a:endParaRPr>
          </a:p>
          <a:p>
            <a:r>
              <a:rPr lang="en-US" u="sng" dirty="0">
                <a:ea typeface="+mn-lt"/>
                <a:cs typeface="+mn-lt"/>
              </a:rPr>
              <a:t>Prediction Strategy:</a:t>
            </a:r>
            <a:endParaRPr lang="en-US" u="sng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 Always Taken: Predicts that a branch will be taken.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Always Not Taken: Predicts that a branch will not be taken.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Often used as a baseline or fallback strategy.</a:t>
            </a:r>
            <a:endParaRPr lang="en-US" dirty="0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  Suitable for branches with predictable behavior.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Performance impact depends on the predictability of branches in the code.</a:t>
            </a:r>
            <a:endParaRPr lang="en-US" dirty="0"/>
          </a:p>
          <a:p>
            <a:r>
              <a:rPr lang="en-US" dirty="0">
                <a:cs typeface="Calibri"/>
              </a:rPr>
              <a:t>Static  prediction is straightforward and has low overhead, it may not be very accurate for branches whose behavior depends on runtime conditions.</a:t>
            </a:r>
            <a:endParaRPr lang="en-US" dirty="0">
              <a:ea typeface="Calibri"/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094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EE69-8CB6-B1C9-4544-9436CB4B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06" y="330000"/>
            <a:ext cx="11377410" cy="1217011"/>
          </a:xfrm>
        </p:spPr>
        <p:txBody>
          <a:bodyPr/>
          <a:lstStyle/>
          <a:p>
            <a:r>
              <a:rPr lang="en-US">
                <a:cs typeface="Calibri Light"/>
              </a:rPr>
              <a:t>               </a:t>
            </a:r>
            <a:r>
              <a:rPr lang="en-US" b="1">
                <a:cs typeface="Calibri Light"/>
              </a:rPr>
              <a:t>FINITE STATE Automaton(FSA) </a:t>
            </a:r>
            <a:br>
              <a:rPr lang="en-US" b="1">
                <a:cs typeface="Calibri Light"/>
              </a:rPr>
            </a:br>
            <a:r>
              <a:rPr lang="en-US" b="1">
                <a:cs typeface="Calibri Light"/>
              </a:rPr>
              <a:t> 1-BIT:                                    2-BIT: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1BCE0-8D6D-4FC6-FB24-9B617FD2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366" y="1609859"/>
            <a:ext cx="5044226" cy="3906592"/>
          </a:xfrm>
          <a:prstGeom prst="rect">
            <a:avLst/>
          </a:prstGeom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903450C-E9E2-7691-7F84-5A359766CC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758" b="9758"/>
          <a:stretch/>
        </p:blipFill>
        <p:spPr>
          <a:xfrm>
            <a:off x="1297404" y="1605684"/>
            <a:ext cx="3775399" cy="3913044"/>
          </a:xfrm>
        </p:spPr>
      </p:pic>
    </p:spTree>
    <p:extLst>
      <p:ext uri="{BB962C8B-B14F-4D97-AF65-F5344CB8AC3E}">
        <p14:creationId xmlns:p14="http://schemas.microsoft.com/office/powerpoint/2010/main" val="197012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>
                <a:cs typeface="Calibri Light"/>
              </a:rPr>
              <a:t>OPTIMIZED TECHNIQUE</a:t>
            </a: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11921-0197-BDBB-335D-DE84057D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351" y="623577"/>
            <a:ext cx="10511725" cy="51371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We propose a new optimized technique that leverages a 2x1 multiplexer (MUX), where:</a:t>
            </a:r>
            <a:endParaRPr lang="en-US">
              <a:solidFill>
                <a:srgbClr val="000000"/>
              </a:solidFill>
              <a:cs typeface="Calibri"/>
            </a:endParaRPr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S represents the output from correlating branch prediction.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 represents the output from 2-bit branch prediction.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B represents the output from static branch prediction.</a:t>
            </a:r>
            <a:endParaRPr lang="en-US"/>
          </a:p>
          <a:p>
            <a:r>
              <a:rPr lang="en-US">
                <a:cs typeface="Calibri"/>
              </a:rPr>
              <a:t>If Z=1 then the branch is predicted to be taken else not taken.</a:t>
            </a:r>
          </a:p>
          <a:p>
            <a:endParaRPr lang="en-US">
              <a:cs typeface="Calibri"/>
            </a:endParaRPr>
          </a:p>
        </p:txBody>
      </p:sp>
      <p:pic>
        <p:nvPicPr>
          <p:cNvPr id="2" name="Picture 1" descr="A diagram of a diagram&#10;&#10;Description automatically generated">
            <a:extLst>
              <a:ext uri="{FF2B5EF4-FFF2-40B4-BE49-F238E27FC236}">
                <a16:creationId xmlns:a16="http://schemas.microsoft.com/office/drawing/2014/main" id="{E7E59DB9-FDE3-B004-ADD1-EF01614E1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77" y="3116262"/>
            <a:ext cx="35147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6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B7C3-31A1-FB29-5315-5A1A9623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45" y="466344"/>
            <a:ext cx="11039031" cy="873228"/>
          </a:xfrm>
        </p:spPr>
        <p:txBody>
          <a:bodyPr/>
          <a:lstStyle/>
          <a:p>
            <a:r>
              <a:rPr lang="en-US">
                <a:cs typeface="Calibri Light"/>
              </a:rPr>
              <a:t>EXAMPLE: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51F3A-1BCE-C739-F9C2-0360344A4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46" y="1234225"/>
            <a:ext cx="11039029" cy="50523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cs typeface="Calibri"/>
              </a:rPr>
              <a:t>BRANCH PATTERN HISTORY   :   T N </a:t>
            </a:r>
            <a:r>
              <a:rPr lang="en-US" sz="2000" err="1">
                <a:cs typeface="Calibri"/>
              </a:rPr>
              <a:t>N</a:t>
            </a:r>
            <a:r>
              <a:rPr lang="en-US" sz="2000">
                <a:cs typeface="Calibri"/>
              </a:rPr>
              <a:t> T </a:t>
            </a:r>
            <a:r>
              <a:rPr lang="en-US" sz="2000" err="1">
                <a:cs typeface="Calibri"/>
              </a:rPr>
              <a:t>T</a:t>
            </a:r>
            <a:r>
              <a:rPr lang="en-US" sz="2000">
                <a:cs typeface="Calibri"/>
              </a:rPr>
              <a:t> N T N T </a:t>
            </a:r>
            <a:r>
              <a:rPr lang="en-US" sz="2000" err="1">
                <a:cs typeface="Calibri"/>
              </a:rPr>
              <a:t>T</a:t>
            </a:r>
            <a:r>
              <a:rPr lang="en-US" sz="2000">
                <a:cs typeface="Calibri"/>
              </a:rPr>
              <a:t> N</a:t>
            </a:r>
          </a:p>
          <a:p>
            <a:pPr marL="0" indent="0">
              <a:buNone/>
            </a:pPr>
            <a:r>
              <a:rPr lang="en-US" sz="2000">
                <a:cs typeface="Calibri"/>
              </a:rPr>
              <a:t>LET'S CALCULATE THE OUTCOME OF B(STATIC):</a:t>
            </a:r>
          </a:p>
          <a:p>
            <a:pPr marL="0" indent="0">
              <a:buNone/>
            </a:pPr>
            <a:endParaRPr lang="en-US" sz="2000">
              <a:cs typeface="Calibri"/>
            </a:endParaRPr>
          </a:p>
          <a:p>
            <a:pPr marL="0" indent="0">
              <a:buNone/>
            </a:pPr>
            <a:endParaRPr lang="en-US" sz="2000">
              <a:cs typeface="Calibri"/>
            </a:endParaRPr>
          </a:p>
          <a:p>
            <a:pPr marL="0" indent="0">
              <a:buNone/>
            </a:pPr>
            <a:endParaRPr lang="en-US" sz="2000">
              <a:cs typeface="Calibri"/>
            </a:endParaRPr>
          </a:p>
          <a:p>
            <a:pPr marL="0" indent="0">
              <a:buNone/>
            </a:pPr>
            <a:endParaRPr lang="en-US" sz="2000">
              <a:cs typeface="Calibri"/>
            </a:endParaRPr>
          </a:p>
          <a:p>
            <a:pPr marL="0" indent="0">
              <a:buNone/>
            </a:pPr>
            <a:endParaRPr lang="en-US" sz="2000">
              <a:cs typeface="Calibri"/>
            </a:endParaRPr>
          </a:p>
        </p:txBody>
      </p:sp>
      <p:pic>
        <p:nvPicPr>
          <p:cNvPr id="3" name="Picture 2" descr="A paper with writing on it&#10;&#10;Description automatically generated">
            <a:extLst>
              <a:ext uri="{FF2B5EF4-FFF2-40B4-BE49-F238E27FC236}">
                <a16:creationId xmlns:a16="http://schemas.microsoft.com/office/drawing/2014/main" id="{086EB89A-2EF8-75FA-5DA1-10B0B4A3A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2148573"/>
            <a:ext cx="11308080" cy="373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3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25DFC-0161-D43B-3A02-87FD2F47E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790" y="600364"/>
            <a:ext cx="10975286" cy="51603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cs typeface="Calibri"/>
              </a:rPr>
              <a:t>LET'S CALCULATE THE OUTCOME OF A(2-BIT):</a:t>
            </a:r>
            <a:endParaRPr lang="en-US"/>
          </a:p>
          <a:p>
            <a:endParaRPr lang="en-US" sz="2000">
              <a:cs typeface="Calibri"/>
            </a:endParaRPr>
          </a:p>
          <a:p>
            <a:endParaRPr lang="en-US" sz="2000">
              <a:cs typeface="Calibri"/>
            </a:endParaRPr>
          </a:p>
        </p:txBody>
      </p:sp>
      <p:pic>
        <p:nvPicPr>
          <p:cNvPr id="2" name="Picture 1" descr="A paper with writing on it&#10;&#10;Description automatically generated">
            <a:extLst>
              <a:ext uri="{FF2B5EF4-FFF2-40B4-BE49-F238E27FC236}">
                <a16:creationId xmlns:a16="http://schemas.microsoft.com/office/drawing/2014/main" id="{6D3FF4AA-0424-F969-A87F-60BBA492C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83640"/>
            <a:ext cx="11186160" cy="480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23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F8577-31B4-DE61-160A-7C68107A4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63" y="554182"/>
            <a:ext cx="11033013" cy="5206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cs typeface="Calibri"/>
              </a:rPr>
              <a:t>LET'S CALCULATE THE OUTCOME OF S(CORRELATING):</a:t>
            </a:r>
          </a:p>
          <a:p>
            <a:pPr marL="0" indent="0">
              <a:buNone/>
            </a:pPr>
            <a:endParaRPr lang="en-US" sz="2000">
              <a:cs typeface="Calibri"/>
            </a:endParaRPr>
          </a:p>
        </p:txBody>
      </p:sp>
      <p:pic>
        <p:nvPicPr>
          <p:cNvPr id="2" name="Picture 1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A55C8916-9E37-7B5D-8EED-67FC4C904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061510"/>
            <a:ext cx="10779760" cy="468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03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483D-8883-84BA-35C7-0CA884C5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45" y="466344"/>
            <a:ext cx="10945731" cy="531794"/>
          </a:xfrm>
        </p:spPr>
        <p:txBody>
          <a:bodyPr/>
          <a:lstStyle/>
          <a:p>
            <a:r>
              <a:rPr lang="en-US">
                <a:cs typeface="Calibri Light"/>
              </a:rPr>
              <a:t>OUTCOME OF OPTIMIZED TECHNIQUE:</a:t>
            </a:r>
            <a:endParaRPr lang="en-US"/>
          </a:p>
        </p:txBody>
      </p:sp>
      <p:pic>
        <p:nvPicPr>
          <p:cNvPr id="7" name="Picture 6" descr="A grid of numbers with black lines&#10;&#10;Description automatically generated">
            <a:extLst>
              <a:ext uri="{FF2B5EF4-FFF2-40B4-BE49-F238E27FC236}">
                <a16:creationId xmlns:a16="http://schemas.microsoft.com/office/drawing/2014/main" id="{CEA77893-E892-E310-F5E9-06B5D40B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530" y="1144905"/>
            <a:ext cx="3314700" cy="4933950"/>
          </a:xfrm>
          <a:prstGeom prst="rect">
            <a:avLst/>
          </a:prstGeom>
        </p:spPr>
      </p:pic>
      <p:pic>
        <p:nvPicPr>
          <p:cNvPr id="10" name="Content Placeholder 9" descr="A paper with writing on it&#10;&#10;Description automatically generated">
            <a:extLst>
              <a:ext uri="{FF2B5EF4-FFF2-40B4-BE49-F238E27FC236}">
                <a16:creationId xmlns:a16="http://schemas.microsoft.com/office/drawing/2014/main" id="{7B9C11D4-ACD5-D768-23C8-BFAF0CDDF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0906" y="1322201"/>
            <a:ext cx="7115410" cy="4579358"/>
          </a:xfrm>
        </p:spPr>
      </p:pic>
    </p:spTree>
    <p:extLst>
      <p:ext uri="{BB962C8B-B14F-4D97-AF65-F5344CB8AC3E}">
        <p14:creationId xmlns:p14="http://schemas.microsoft.com/office/powerpoint/2010/main" val="3543233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F809-4EC2-E224-2AEB-26BC8CE2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05" y="994664"/>
            <a:ext cx="10844131" cy="633394"/>
          </a:xfrm>
        </p:spPr>
        <p:txBody>
          <a:bodyPr/>
          <a:lstStyle/>
          <a:p>
            <a:r>
              <a:rPr lang="en-US">
                <a:cs typeface="Calibri Light"/>
              </a:rPr>
              <a:t>COUNT OF MISPREDICTIONS: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6B205-15BB-1306-3789-20641120A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946" y="2153920"/>
            <a:ext cx="10844130" cy="3606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400">
                <a:cs typeface="Calibri"/>
              </a:rPr>
              <a:t>1-BIT BRANCH PREDICTION                         :                   7</a:t>
            </a:r>
          </a:p>
          <a:p>
            <a:pPr marL="342900" indent="-342900"/>
            <a:r>
              <a:rPr lang="en-US" sz="2400">
                <a:cs typeface="Calibri"/>
              </a:rPr>
              <a:t>2-BIT BRANCH PREDICTION                         :                   6</a:t>
            </a:r>
          </a:p>
          <a:p>
            <a:pPr marL="342900" indent="-342900"/>
            <a:r>
              <a:rPr lang="en-US" sz="2400">
                <a:cs typeface="Calibri"/>
              </a:rPr>
              <a:t>CORRELATING BRANCH PREDICTION         :                   6</a:t>
            </a:r>
          </a:p>
          <a:p>
            <a:pPr marL="342900" indent="-342900"/>
            <a:r>
              <a:rPr lang="en-US" sz="2400">
                <a:cs typeface="Calibri"/>
              </a:rPr>
              <a:t>STATIC BRANCH PREDICTION                       :                   5</a:t>
            </a:r>
          </a:p>
          <a:p>
            <a:pPr marL="342900" indent="-342900"/>
            <a:r>
              <a:rPr lang="en-US" sz="2400">
                <a:cs typeface="Calibri"/>
              </a:rPr>
              <a:t>OPTIMIZED BRANCH PREDICTION              :                    1</a:t>
            </a:r>
          </a:p>
          <a:p>
            <a:pPr marL="342900" indent="-342900"/>
            <a:endParaRPr lang="en-US" sz="2400">
              <a:cs typeface="Calibri"/>
            </a:endParaRPr>
          </a:p>
          <a:p>
            <a:pPr marL="342900" indent="-342900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099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2E16-DC11-7366-AA10-A81E86CF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5" y="466344"/>
            <a:ext cx="10894931" cy="755314"/>
          </a:xfrm>
        </p:spPr>
        <p:txBody>
          <a:bodyPr/>
          <a:lstStyle/>
          <a:p>
            <a:r>
              <a:rPr lang="en-US">
                <a:cs typeface="Calibri Light"/>
              </a:rPr>
              <a:t>LET'S CHECK FOR ANOTHER EXAMPLE: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1AB16-9027-875D-F46C-E2F7A457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46" y="1371600"/>
            <a:ext cx="10894930" cy="4378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latin typeface="HGGothicE"/>
              <a:ea typeface="HGGothicE"/>
              <a:cs typeface="Calibri"/>
            </a:endParaRPr>
          </a:p>
          <a:p>
            <a:pPr marL="0" indent="0">
              <a:buNone/>
            </a:pPr>
            <a:r>
              <a:rPr lang="en-US">
                <a:latin typeface="HGGothicE"/>
                <a:ea typeface="HGGothicE"/>
                <a:cs typeface="Calibri"/>
              </a:rPr>
              <a:t>BRANCH PATTERN HISTORY : NTTTNTNTNTT</a:t>
            </a:r>
            <a:endParaRPr lang="en-US"/>
          </a:p>
          <a:p>
            <a:r>
              <a:rPr lang="en-US">
                <a:cs typeface="Calibri"/>
              </a:rPr>
              <a:t>1-BIT MISPREDICTIONS                          :    7</a:t>
            </a:r>
          </a:p>
          <a:p>
            <a:r>
              <a:rPr lang="en-US">
                <a:cs typeface="Calibri"/>
              </a:rPr>
              <a:t>2-BIT MISPREDICTIONS                          :     5</a:t>
            </a:r>
          </a:p>
          <a:p>
            <a:r>
              <a:rPr lang="en-US">
                <a:cs typeface="Calibri"/>
              </a:rPr>
              <a:t>CORRELATING MISPREDICTIONS          :     6</a:t>
            </a:r>
          </a:p>
          <a:p>
            <a:r>
              <a:rPr lang="en-US">
                <a:cs typeface="Calibri"/>
              </a:rPr>
              <a:t>STATIC MISPREDICTIONS                       :      4</a:t>
            </a:r>
          </a:p>
          <a:p>
            <a:r>
              <a:rPr lang="en-US">
                <a:cs typeface="Calibri"/>
              </a:rPr>
              <a:t>OPTIMIZED  METHOD MISPREDICTIONS : 3</a:t>
            </a:r>
          </a:p>
          <a:p>
            <a:endParaRPr lang="en-US">
              <a:cs typeface="Calibri"/>
            </a:endParaRPr>
          </a:p>
        </p:txBody>
      </p:sp>
      <p:pic>
        <p:nvPicPr>
          <p:cNvPr id="7" name="Picture 6" descr="A paper with numbers and symbols&#10;&#10;Description automatically generated">
            <a:extLst>
              <a:ext uri="{FF2B5EF4-FFF2-40B4-BE49-F238E27FC236}">
                <a16:creationId xmlns:a16="http://schemas.microsoft.com/office/drawing/2014/main" id="{58AFA25E-68FD-A8A0-6506-064F5DBF4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660" y="1219200"/>
            <a:ext cx="5959720" cy="437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77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4456-1199-27D6-5A20-80495943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02" y="423415"/>
            <a:ext cx="10920974" cy="1109340"/>
          </a:xfrm>
        </p:spPr>
        <p:txBody>
          <a:bodyPr/>
          <a:lstStyle/>
          <a:p>
            <a:r>
              <a:rPr lang="en-US">
                <a:cs typeface="Calibri Light"/>
              </a:rPr>
              <a:t>CONCLUSION: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89AA9-7A0D-FCD9-86A4-722487002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45" y="1565569"/>
            <a:ext cx="10920973" cy="42063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Through the MUX, our technique dynamically chooses the most accurate prediction enhancing overall prediction accuracy and efficiency.</a:t>
            </a:r>
            <a:endParaRPr lang="en-US">
              <a:solidFill>
                <a:srgbClr val="000000"/>
              </a:solidFill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3943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70775" y="3789422"/>
            <a:ext cx="3359150" cy="109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N.PRIYADARSHINI (CS22B1009)</a:t>
            </a:r>
          </a:p>
          <a:p>
            <a:r>
              <a:rPr lang="en-US">
                <a:cs typeface="Calibri"/>
              </a:rPr>
              <a:t>G.SATYA PRIYA (CS22B1012)</a:t>
            </a:r>
          </a:p>
          <a:p>
            <a:r>
              <a:rPr lang="en-US">
                <a:cs typeface="Calibri"/>
              </a:rPr>
              <a:t>K.SRI HARSHA PRIYA(CS22B1017)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in32_SL_V16" id="{C08B0D31-9878-4B86-9AA2-489D9D63805D}" vid="{DECC9CCA-8386-4D88-B03D-E024FA4FDF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C2645A-E767-4D7E-984D-234E531E455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Application>Microsoft Office PowerPoint</Application>
  <PresentationFormat>Widescreen</PresentationFormat>
  <Slides>18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</vt:lpstr>
      <vt:lpstr>Optimizing branch prediction technique</vt:lpstr>
      <vt:lpstr>agenda</vt:lpstr>
      <vt:lpstr>WHY DID WE CHOOSE??</vt:lpstr>
      <vt:lpstr>Types of branch predictions:</vt:lpstr>
      <vt:lpstr>PowerPoint Presentation</vt:lpstr>
      <vt:lpstr>PowerPoint Presentation</vt:lpstr>
      <vt:lpstr>PowerPoint Presentation</vt:lpstr>
      <vt:lpstr>               FINITE STATE Automaton(FSA)   1-BIT:                                    2-BIT:</vt:lpstr>
      <vt:lpstr>OPTIMIZED TECHNIQUE</vt:lpstr>
      <vt:lpstr>PowerPoint Presentation</vt:lpstr>
      <vt:lpstr>EXAMPLE:</vt:lpstr>
      <vt:lpstr>PowerPoint Presentation</vt:lpstr>
      <vt:lpstr>PowerPoint Presentation</vt:lpstr>
      <vt:lpstr>OUTCOME OF OPTIMIZED TECHNIQUE:</vt:lpstr>
      <vt:lpstr>COUNT OF MISPREDICTIONS:</vt:lpstr>
      <vt:lpstr>LET'S CHECK FOR ANOTHER EXAMPLE: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branch prediction technique</dc:title>
  <dc:creator/>
  <cp:revision>11</cp:revision>
  <dcterms:created xsi:type="dcterms:W3CDTF">2024-04-19T17:42:05Z</dcterms:created>
  <dcterms:modified xsi:type="dcterms:W3CDTF">2024-04-20T16:28:13Z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